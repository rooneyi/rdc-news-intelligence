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solidFill>
            <a:srgbClr val="103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97880"/>
            <a:ext cx="12188952" cy="320040"/>
          </a:xfrm>
          <a:prstGeom prst="rect">
            <a:avLst/>
          </a:prstGeom>
          <a:solidFill>
            <a:srgbClr val="13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577840"/>
            <a:ext cx="12188952" cy="320040"/>
          </a:xfrm>
          <a:prstGeom prst="rect">
            <a:avLst/>
          </a:prstGeom>
          <a:solidFill>
            <a:srgbClr val="16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57800"/>
            <a:ext cx="12188952" cy="320040"/>
          </a:xfrm>
          <a:prstGeom prst="rect">
            <a:avLst/>
          </a:prstGeom>
          <a:solidFill>
            <a:srgbClr val="19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37760"/>
            <a:ext cx="12188952" cy="320040"/>
          </a:xfrm>
          <a:prstGeom prst="rect">
            <a:avLst/>
          </a:prstGeom>
          <a:solidFill>
            <a:srgbClr val="1C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617720"/>
            <a:ext cx="12188952" cy="320040"/>
          </a:xfrm>
          <a:prstGeom prst="rect">
            <a:avLst/>
          </a:prstGeom>
          <a:solidFill>
            <a:srgbClr val="1F4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297680"/>
            <a:ext cx="12188952" cy="320040"/>
          </a:xfrm>
          <a:prstGeom prst="rect">
            <a:avLst/>
          </a:prstGeom>
          <a:solidFill>
            <a:srgbClr val="224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65760"/>
            <a:ext cx="109728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50292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UDBL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UNIVERSITÉ DON BOSCO DE LUBUMBASHI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ADD"/>
                </a:solidFill>
              </a:rPr>
              <a:t>Faculté des Sciences Informatiques  ·  Génie Logiciel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234440"/>
            <a:ext cx="114300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463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DÉVELOPPEMENT D'UN SYSTÈME INTELLIGENT DE
RECOMMANDATION ET DE RECHERCHE D'INFORMATION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06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CCFF"/>
                </a:solidFill>
              </a:rPr>
              <a:t>pour lutter contre la surinformation et la désinformation en ligne en RDC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383280"/>
            <a:ext cx="7589520" cy="1828800"/>
          </a:xfrm>
          <a:prstGeom prst="rect">
            <a:avLst/>
          </a:prstGeom>
          <a:solidFill>
            <a:srgbClr val="14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493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Présenté par :  KALUMBA ILUNGA Rooney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886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FF"/>
                </a:solidFill>
              </a:rPr>
              <a:t>Dirigé par :  CT Ferdinand KAHENGA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519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DFF"/>
                </a:solidFill>
              </a:rPr>
              <a:t>Filière : Génie Logiciel               Juin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AADD"/>
                </a:solidFill>
              </a:rPr>
              <a:t>Travail de Fin de Cycle – Ingénieur Technicien en Génie Logiciel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La RDC face à la crise informationnelle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548640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Contexte congolais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Explosion du mobile et de WhatsApp / Télégramme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Médias en ligne : Radio Okapi, Actualite.cd, 7sur7.cd…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Contenus non structurés, redondants, de qualité variable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Événements sensibles : santé, sécurité, politique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Contexte multilingue : français, anglais, swahili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897880" cy="21945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08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</a:rPr>
              <a:t>🔴  Désinformation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92024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Contenus faux ou trompeurs viralisés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Confiance accordée à l'expéditeur ≠ source réelle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Messageries chiffrées : monitoring difficile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794760"/>
            <a:ext cx="5897880" cy="219456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11A"/>
                </a:solidFill>
              </a:rPr>
              <a:t>🟠  Surinformation (infobésité)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25196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Volume &gt; capacité de traitement cognitif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Répétition = illusion de véracité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Les outils de correction peuvent aggraver le bruit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6035040"/>
            <a:ext cx="11731752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624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❓ Comment concevoir un chatbot RAG transformant des articles d'actualité en réponses fiables, réduisant simultanément désinformation et surinformation sur WhatsApp/Télégramme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Objectifs &amp; Hypothèses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Ce que le système vise à démontrer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55778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Objectifs du système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Regrouper automatiquement les informations similaires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Détecter et supprimer les redondances conversationnelles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Produire une réponse synthétique, sourcée et structurée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Extraire le texte des images via OCR (Tesseract)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Déployer via WhatsApp (Whapi) et Télégramme Bot API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F966B"/>
                </a:solidFill>
              </a:rPr>
              <a:t>▶  </a:t>
            </a:r>
            <a:r>
              <a:rPr sz="1300">
                <a:solidFill>
                  <a:srgbClr val="333333"/>
                </a:solidFill>
              </a:rPr>
              <a:t>Offrir un tableau de bord administrateur en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89788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3619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966B"/>
                </a:solidFill>
              </a:rPr>
              <a:t>Hypothèse centrale – Architecture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01168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  ➤  </a:t>
            </a:r>
            <a:r>
              <a:rPr sz="1200">
                <a:solidFill>
                  <a:srgbClr val="333333"/>
                </a:solidFill>
              </a:rPr>
              <a:t>1. Analyse de la requête utilisateur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  ➤  </a:t>
            </a:r>
            <a:r>
              <a:rPr sz="1200">
                <a:solidFill>
                  <a:srgbClr val="333333"/>
                </a:solidFill>
              </a:rPr>
              <a:t>2. Recherche sémantique (Top-K) dans le corpus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  ➤  </a:t>
            </a:r>
            <a:r>
              <a:rPr sz="1200">
                <a:solidFill>
                  <a:srgbClr val="333333"/>
                </a:solidFill>
              </a:rPr>
              <a:t>3. Regroupement des contenus similaires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  ➤  </a:t>
            </a:r>
            <a:r>
              <a:rPr sz="1200">
                <a:solidFill>
                  <a:srgbClr val="333333"/>
                </a:solidFill>
              </a:rPr>
              <a:t>4. Génération d'une réponse synthétique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160520"/>
            <a:ext cx="5897880" cy="1965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2245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Intérêt du sujet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645152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Scientifique : IR, NLP, RAG, LLM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Technologique : crawler + embeddings + VectorDB + LLM local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Sociétal : info fiable sur canaux déjà adoptés par les citoyens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du Système – Pipeline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De la réception du message au verdict structuré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103120" cy="3291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DDFF"/>
                </a:solidFill>
              </a:rPr>
              <a:t>Réception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78608"/>
            <a:ext cx="2011679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51760"/>
            <a:ext cx="19202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WhatsApp / Telegram
Webhook 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651760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73E8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463040"/>
            <a:ext cx="2103120" cy="3291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DDFF"/>
                </a:solidFill>
              </a:rPr>
              <a:t>Prétraitement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2578608"/>
            <a:ext cx="2011679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2888" y="2651760"/>
            <a:ext cx="19202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OCR (Tesseract)
Topic Gate
Déduplication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2651760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73E8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54296" y="1463040"/>
            <a:ext cx="2103120" cy="3291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DDFF"/>
                </a:solidFill>
              </a:rPr>
              <a:t>RAG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0016" y="2578608"/>
            <a:ext cx="2011679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2651760"/>
            <a:ext cx="19202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Embeddings
ChromaDB Top-K
Seuil similarité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3" y="2651760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73E8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67144" y="1463040"/>
            <a:ext cx="2103120" cy="3291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7144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4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DDFF"/>
                </a:solidFill>
              </a:rPr>
              <a:t>Génération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2864" y="2578608"/>
            <a:ext cx="2011679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8583" y="2651760"/>
            <a:ext cx="19202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LLM Mistral 7B
(Ollama local)
Prompt structuré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1" y="2651760"/>
            <a:ext cx="9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73E8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9992" y="1463040"/>
            <a:ext cx="2103120" cy="3291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9992" y="1600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ADDFF"/>
                </a:solidFill>
              </a:rPr>
              <a:t>Restitution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25712" y="2578608"/>
            <a:ext cx="2011679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432" y="2651760"/>
            <a:ext cx="19202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Verdict + sources
Anti-redondance
Réponse courte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983480"/>
            <a:ext cx="11731752" cy="1234440"/>
          </a:xfrm>
          <a:prstGeom prst="rect">
            <a:avLst/>
          </a:prstGeom>
          <a:solidFill>
            <a:srgbClr val="14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474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DDFF"/>
                </a:solidFill>
              </a:rPr>
              <a:t>Mémoire duale — PostgreSQL (métadonnées structurées)  +  ChromaDB (vecteurs sémantiques)  +  Redis (état court terme)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315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BBFF"/>
                </a:solidFill>
              </a:rPr>
              <a:t>Synchronisation SQL → Chroma  ·  Relation 1:1 article_id  ·  Suppression doublons ON CONFLICT  ·  Couverture vectorielle 100 %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Clés du Système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Fact-checking + Anti-surinformation + OCR multicanal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534924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166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🔎  Fact-checking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Retrieval sémantique Top-K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Verdict : VRAI / FAUX / IMPRÉCIS / NON VÉRIFIABLE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Sources citées (Radio Okapi, 7sur7, Actualite.cd…)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Seuil de similarité configurable (RAG_MIN_SIMILARITY)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463040"/>
            <a:ext cx="5349240" cy="2286000"/>
          </a:xfrm>
          <a:prstGeom prst="rect">
            <a:avLst/>
          </a:prstGeom>
          <a:solidFill>
            <a:srgbClr val="0F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54480"/>
            <a:ext cx="5166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🔄  Anti-Surinformation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Embeddings conversationnels (chat_id)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Cooldown par sujet : blocage des réponses répétées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Story Card (fiche unique par cluster de messages)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Mémoire Redis à TTL court (fenêtre glissante)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886200"/>
            <a:ext cx="5349240" cy="2286000"/>
          </a:xfrm>
          <a:prstGeom prst="rect">
            <a:avLst/>
          </a:prstGeom>
          <a:solidFill>
            <a:srgbClr val="E87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77639"/>
            <a:ext cx="5166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🖼️  OCR 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Détection automatique d'images contenant du texte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Extraction via Tesseract OCR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Injection dans le pipeline RAG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Couvre captures, affiches, communiqués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886200"/>
            <a:ext cx="5349240" cy="2286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977639"/>
            <a:ext cx="5166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34840"/>
            <a:ext cx="5074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Dashboard Web : corpus, sources, couverture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17 595 articles indexés · 100 % vectorisés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52 sources configurées (FR/EN/SW)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FFFFFF"/>
                </a:solidFill>
              </a:rPr>
              <a:t>· </a:t>
            </a:r>
            <a:r>
              <a:rPr sz="1200">
                <a:solidFill>
                  <a:srgbClr val="FFFFFF"/>
                </a:solidFill>
              </a:rPr>
              <a:t>API /admin/overview en temps réel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Stack Technique &amp; Déploiement VPS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Architecture locale, souveraine et opérationnelle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81328"/>
            <a:ext cx="2514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270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Couche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481328"/>
            <a:ext cx="315468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5270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481328"/>
            <a:ext cx="53492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2704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892808"/>
            <a:ext cx="251460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93852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API &amp; Webhooks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892808"/>
            <a:ext cx="315468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9385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FastAPI (Python 3.12)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892808"/>
            <a:ext cx="534924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938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Endpoints WhatsApp, Télégramme, 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331720"/>
            <a:ext cx="251460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37744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 local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331720"/>
            <a:ext cx="315468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3774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Ollama + Mistral 7B q4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331720"/>
            <a:ext cx="534924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377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Génération de réponses (0 coût API)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770632"/>
            <a:ext cx="251460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1635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Vecteurs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770632"/>
            <a:ext cx="315468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28163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ChromaDB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770632"/>
            <a:ext cx="534924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816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Recherche sémantique Top-K (cosine)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209544"/>
            <a:ext cx="251460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25526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Stockage 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209544"/>
            <a:ext cx="315468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2552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209544"/>
            <a:ext cx="534924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2552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Articles, métadonnées, historique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648456"/>
            <a:ext cx="251460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69417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Cache &amp; files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3648456"/>
            <a:ext cx="315468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36941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Redis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3648456"/>
            <a:ext cx="534924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694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Mémoire conversationnelle, cooldown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087368"/>
            <a:ext cx="251460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13308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OCR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4087368"/>
            <a:ext cx="315468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0" y="41330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Tesseract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087368"/>
            <a:ext cx="534924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1330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Extraction texte depuis images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526280"/>
            <a:ext cx="251460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57200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Process mgr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4526280"/>
            <a:ext cx="315468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26080" y="4572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PM2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4526280"/>
            <a:ext cx="534924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4572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Supervision des services applicatifs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965192"/>
            <a:ext cx="251460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01091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Reverse proxy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4965192"/>
            <a:ext cx="315468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0" y="50109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Nginx + HTTPS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4965192"/>
            <a:ext cx="5349240" cy="411479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50109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Terminaison TLS, routage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5404104"/>
            <a:ext cx="251460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544982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Crawler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" y="5404104"/>
            <a:ext cx="315468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26080" y="544982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Python (RSS / HTTP)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5404104"/>
            <a:ext cx="5349240" cy="4114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72200" y="54498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Ingestion continue 17 000+ articles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5486400"/>
            <a:ext cx="11731752" cy="868680"/>
          </a:xfrm>
          <a:prstGeom prst="rect">
            <a:avLst/>
          </a:prstGeom>
          <a:solidFill>
            <a:srgbClr val="14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55778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DFF"/>
                </a:solidFill>
              </a:rPr>
              <a:t>🖥️  VPS Linux unique  ·  Services sur 127.0.0.1  ·  Logs PM2 + FastAPI + Ollama  ·  URL prod : rooney-rdc.rooneykalumba.tech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BBFF"/>
                </a:solidFill>
              </a:rPr>
              <a:t>Incidents résolus : conflit port 8000, incohérence .env, transfert rsync, extensions DB manquantes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Résultats Obtenus &amp; Démonstrations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Corpus, comportement en production, captures réelles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743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18 595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176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articles indexés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2743200" cy="1188720"/>
          </a:xfrm>
          <a:prstGeom prst="rect">
            <a:avLst/>
          </a:prstGeom>
          <a:solidFill>
            <a:srgbClr val="0F9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76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couverture vectorielle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2743200" cy="1188720"/>
          </a:xfrm>
          <a:prstGeom prst="rect">
            <a:avLst/>
          </a:prstGeom>
          <a:solidFill>
            <a:srgbClr val="E87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76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sources configurées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743200" cy="1188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5087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 langues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76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FR · EN · SW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834640"/>
            <a:ext cx="11731752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8036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Scénarios de démonstration validés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46120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30098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WhatsApp  Groupe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246120"/>
            <a:ext cx="848563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30098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Pipeline RAG complet → Verdict + Explication +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12463"/>
            <a:ext cx="3200400" cy="4389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767327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WhatsApp  Groupe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712463"/>
            <a:ext cx="8485632" cy="4389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767327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Message redondant → anti-surinformation, réponse courte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178808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2336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WhatsApp  Privé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178808"/>
            <a:ext cx="848563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2336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Question individuelle → réponse contextualisée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645152"/>
            <a:ext cx="3200400" cy="4389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70001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WhatsApp  Privé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645152"/>
            <a:ext cx="8485632" cy="4389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70001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Image (OCR) → extraction texte → RAG → verdict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5111496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166359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Télégramme  Privé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5111496"/>
            <a:ext cx="848563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5166359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Même chaîne de vérification, interface Bot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577840"/>
            <a:ext cx="3200400" cy="4389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632703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Admin  Web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5577840"/>
            <a:ext cx="8485632" cy="438912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5632703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Dashboard : corpus, sources, couverture 100 %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Discussion, 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Bilan critique et trajectoire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3657600" cy="411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966B"/>
                </a:solidFill>
              </a:rPr>
              <a:t>✅ 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47672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Architecture pragmatique et déployable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Souveraineté des données (LLM local)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Multi-canaux (WhatsApp + Télégramme)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Déduplication conversationnelle efficace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0F966B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Bonne observabilité opérationnelle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63040"/>
            <a:ext cx="3657600" cy="4114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5270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0000"/>
                </a:solidFill>
              </a:rPr>
              <a:t>⚠️  Limites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1947672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CC0000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Dépendance CPU/RAM du VPS unique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C0000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OCR sensible aux images dégradées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C0000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Swahili encore sous-représenté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C0000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Gestion complexe multi-transports simultanés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CC0000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Évaluation perceptuelle (pas de benchmark formel)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959352" cy="4114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15270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🚀  Perspectives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947672"/>
            <a:ext cx="374903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A73E8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Enrichissement du corpus swahili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73E8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Résumé adaptatif selon contexte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73E8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Métriques de « charge cognitive évitée »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73E8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Séparation LLM / indexation sur nœuds dédiés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73E8"/>
                </a:solidFill>
              </a:rPr>
              <a:t>▶  </a:t>
            </a:r>
            <a:r>
              <a:rPr sz="1200">
                <a:solidFill>
                  <a:srgbClr val="333333"/>
                </a:solidFill>
              </a:rPr>
              <a:t>Dashboard unifié (alertes, latence, erreurs)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760720"/>
            <a:ext cx="11731752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806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"Un assistant accessible sur les canaux que les citoyens utilisent déjà, capable de transformer un flot d'articles dispersés en réponses structurées, sourcées et moins redondantes."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</a:rPr>
              <a:t>RDC News Intelligence  |  KALUMBA ILUNGA Rooney  |  UDBL – Génie Logiciel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